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68C96"/>
                </a:solidFill>
                <a:latin typeface="Calibri"/>
              </a:defRPr>
            </a:pPr>
            <a:r>
              <a:rPr sz="1300" b="0" i="0" u="none" strike="noStrike">
                <a:solidFill>
                  <a:srgbClr val="868C96"/>
                </a:solidFill>
                <a:latin typeface="Calibri"/>
              </a:rPr>
              <a:t>Days between first and second purchase (%)</a:t>
            </a:r>
          </a:p>
        </c:rich>
      </c:tx>
      <c:layout/>
      <c:overlay val="0"/>
    </c:title>
    <c:autoTitleDeleted val="0"/>
    <c:plotArea>
      <c:layout/>
      <c:barChart>
        <c:barDir val="col"/>
        <c:grouping val="clustered"/>
        <c:varyColors val="0"/>
        <c:ser>
          <c:idx val="0"/>
          <c:order val="0"/>
          <c:tx>
            <c:strRef>
              <c:f>Sheet1!$B$1</c:f>
              <c:strCache>
                <c:ptCount val="1"/>
                <c:pt idx="0">
                  <c:v>Share of repeat buyers</c:v>
                </c:pt>
              </c:strCache>
            </c:strRef>
          </c:tx>
          <c:spPr>
            <a:solidFill>
              <a:srgbClr val="1E2761"/>
            </a:solidFill>
            <a:effectLst/>
          </c:spPr>
          <c:invertIfNegative val="0"/>
          <c:dLbls>
            <c:numFmt formatCode="0" sourceLinked="0"/>
            <c:txPr>
              <a:bodyPr/>
              <a:lstStyle/>
              <a:p>
                <a:pPr>
                  <a:defRPr b="0" i="0" strike="noStrike" sz="1000" u="none">
                    <a:solidFill>
                      <a:srgbClr val="14161A"/>
                    </a:solidFill>
                    <a:latin typeface="Arial"/>
                  </a:defRPr>
                </a:pPr>
              </a:p>
            </c:txPr>
            <c:showLegendKey val="0"/>
            <c:showVal val="1"/>
            <c:showCatName val="0"/>
            <c:showSerName val="0"/>
            <c:showPercent val="0"/>
            <c:showBubbleSize val="0"/>
            <c:showLeaderLines val="0"/>
          </c:dLbls>
          <c:cat>
            <c:multiLvlStrRef>
              <c:f>Sheet1!$A$2:$A$9</c:f>
              <c:multiLvlStrCache>
                <c:ptCount val="8"/>
                <c:lvl>
                  <c:pt idx="0">
                    <c:v>0-30</c:v>
                  </c:pt>
                  <c:pt idx="1">
                    <c:v>31-60</c:v>
                  </c:pt>
                  <c:pt idx="2">
                    <c:v>61-90</c:v>
                  </c:pt>
                  <c:pt idx="3">
                    <c:v>91-120</c:v>
                  </c:pt>
                  <c:pt idx="4">
                    <c:v>121-180</c:v>
                  </c:pt>
                  <c:pt idx="5">
                    <c:v>181-270</c:v>
                  </c:pt>
                  <c:pt idx="6">
                    <c:v>271-365</c:v>
                  </c:pt>
                  <c:pt idx="7">
                    <c:v>365+</c:v>
                  </c:pt>
                </c:lvl>
              </c:multiLvlStrCache>
            </c:multiLvlStrRef>
          </c:cat>
          <c:val>
            <c:numRef>
              <c:f>Sheet1!$B$2:$B$9</c:f>
              <c:numCache>
                <c:formatCode>General</c:formatCode>
                <c:ptCount val="8"/>
                <c:pt idx="0">
                  <c:v>35.73</c:v>
                </c:pt>
                <c:pt idx="1">
                  <c:v>15.75</c:v>
                </c:pt>
                <c:pt idx="2">
                  <c:v>8.32</c:v>
                </c:pt>
                <c:pt idx="3">
                  <c:v>6.37</c:v>
                </c:pt>
                <c:pt idx="4">
                  <c:v>10.48</c:v>
                </c:pt>
                <c:pt idx="5">
                  <c:v>10.13</c:v>
                </c:pt>
                <c:pt idx="6">
                  <c:v>7.09</c:v>
                </c:pt>
                <c:pt idx="7">
                  <c:v>6.13</c:v>
                </c:pt>
              </c:numCache>
            </c:numRef>
          </c:val>
        </c:ser>
        <c:dLbls>
          <c:numFmt formatCode="0" sourceLinked="0"/>
          <c:txPr>
            <a:bodyPr/>
            <a:lstStyle/>
            <a:p>
              <a:pPr>
                <a:defRPr b="0" i="0" strike="noStrike" sz="1000" u="none">
                  <a:solidFill>
                    <a:srgbClr val="1416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68C96"/>
                </a:solidFill>
                <a:latin typeface="Arial"/>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2E4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68C9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decision was not 'how do we improve retention' but 'do we build a targeting model or a treatment for everyone'. Those are different programs with different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 one-and-done. The top-heavy revenue split is usually read as good news about whales; the useful reading is the 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 value and title count correlate 0.75. Customers who buy three titles return because they spent more, not because they bought more items. Acting on the raw gap pushes merchandising toward cheap add-ons.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dollar figures are deliberately conservative: 25% capture on the basket lever, and the 3pp lift on the nudge is assumed rather than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Pre-committing to a kill threshold is the point. An analysis that cannot be wrong is not worth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71600"/>
            <a:ext cx="7315200" cy="82296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Retention</a:t>
            </a:r>
            <a:endParaRPr lang="en-US" sz="5400" dirty="0"/>
          </a:p>
        </p:txBody>
      </p:sp>
      <p:sp>
        <p:nvSpPr>
          <p:cNvPr id="3" name="Text 1"/>
          <p:cNvSpPr/>
          <p:nvPr/>
        </p:nvSpPr>
        <p:spPr>
          <a:xfrm>
            <a:off x="731520" y="2148840"/>
            <a:ext cx="8686800" cy="640080"/>
          </a:xfrm>
          <a:prstGeom prst="rect">
            <a:avLst/>
          </a:prstGeom>
          <a:noFill/>
          <a:ln/>
        </p:spPr>
        <p:txBody>
          <a:bodyPr wrap="square" rtlCol="0" anchor="ctr"/>
          <a:lstStyle/>
          <a:p>
            <a:pPr indent="0" marL="0">
              <a:buNone/>
            </a:pPr>
            <a:r>
              <a:rPr lang="en-US" sz="3000" dirty="0">
                <a:solidFill>
                  <a:srgbClr val="CADCFC"/>
                </a:solidFill>
                <a:latin typeface="Cambria" pitchFamily="34" charset="0"/>
                <a:ea typeface="Cambria" pitchFamily="34" charset="-122"/>
                <a:cs typeface="Cambria" pitchFamily="34" charset="-120"/>
              </a:rPr>
              <a:t>Why 62% of customers never came back</a:t>
            </a:r>
            <a:endParaRPr lang="en-US" sz="3000" dirty="0"/>
          </a:p>
        </p:txBody>
      </p:sp>
      <p:sp>
        <p:nvSpPr>
          <p:cNvPr id="4" name="Text 2"/>
          <p:cNvSpPr/>
          <p:nvPr/>
        </p:nvSpPr>
        <p:spPr>
          <a:xfrm>
            <a:off x="731520" y="2788920"/>
            <a:ext cx="8686800" cy="45720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…and why a prediction model was the wrong fix</a:t>
            </a:r>
            <a:endParaRPr lang="en-US" sz="1800" dirty="0"/>
          </a:p>
        </p:txBody>
      </p:sp>
      <p:sp>
        <p:nvSpPr>
          <p:cNvPr id="5" name="Text 3"/>
          <p:cNvSpPr/>
          <p:nvPr/>
        </p:nvSpPr>
        <p:spPr>
          <a:xfrm>
            <a:off x="731520" y="3794760"/>
            <a:ext cx="8229600" cy="82296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CDNOW transaction log</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23,570 customers · 67,591 orders · Q1 1997 cohort, followed to June 1998</a:t>
            </a:r>
            <a:endParaRPr lang="en-US" sz="1300" dirty="0"/>
          </a:p>
        </p:txBody>
      </p:sp>
      <p:sp>
        <p:nvSpPr>
          <p:cNvPr id="6" name="Text 4"/>
          <p:cNvSpPr/>
          <p:nvPr/>
        </p:nvSpPr>
        <p:spPr>
          <a:xfrm>
            <a:off x="731520" y="5943600"/>
            <a:ext cx="4572000" cy="365760"/>
          </a:xfrm>
          <a:prstGeom prst="rect">
            <a:avLst/>
          </a:prstGeom>
          <a:noFill/>
          <a:ln/>
        </p:spPr>
        <p:txBody>
          <a:bodyPr wrap="square" rtlCol="0" anchor="ctr"/>
          <a:lstStyle/>
          <a:p>
            <a:pPr indent="0" marL="0">
              <a:buNone/>
            </a:pPr>
            <a:r>
              <a:rPr lang="en-US" sz="1300" dirty="0">
                <a:solidFill>
                  <a:srgbClr val="8FA4D8"/>
                </a:solidFill>
                <a:latin typeface="Calibri" pitchFamily="34" charset="0"/>
                <a:ea typeface="Calibri" pitchFamily="34" charset="-122"/>
                <a:cs typeface="Calibri" pitchFamily="34" charset="-120"/>
              </a:rPr>
              <a:t>Payton Nguyen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548640"/>
          </a:xfrm>
          <a:prstGeom prst="rect">
            <a:avLst/>
          </a:prstGeom>
          <a:noFill/>
          <a:ln/>
        </p:spPr>
        <p:txBody>
          <a:bodyPr wrap="square" rtlCol="0" anchor="ctr"/>
          <a:lstStyle/>
          <a:p>
            <a:pPr indent="0" marL="0">
              <a:buNone/>
            </a:pPr>
            <a:r>
              <a:rPr lang="en-US" sz="4000" b="1" dirty="0">
                <a:solidFill>
                  <a:srgbClr val="14161A"/>
                </a:solidFill>
                <a:latin typeface="Cambria" pitchFamily="34" charset="0"/>
                <a:ea typeface="Cambria" pitchFamily="34" charset="-122"/>
                <a:cs typeface="Cambria" pitchFamily="34" charset="-120"/>
              </a:rPr>
              <a:t>The problem</a:t>
            </a:r>
            <a:endParaRPr lang="en-US" sz="4000" dirty="0"/>
          </a:p>
        </p:txBody>
      </p:sp>
      <p:sp>
        <p:nvSpPr>
          <p:cNvPr id="3" name="Text 1"/>
          <p:cNvSpPr/>
          <p:nvPr/>
        </p:nvSpPr>
        <p:spPr>
          <a:xfrm>
            <a:off x="640080" y="1143000"/>
            <a:ext cx="10058400" cy="411480"/>
          </a:xfrm>
          <a:prstGeom prst="rect">
            <a:avLst/>
          </a:prstGeom>
          <a:noFill/>
          <a:ln/>
        </p:spPr>
        <p:txBody>
          <a:bodyPr wrap="square" rtlCol="0" anchor="ctr"/>
          <a:lstStyle/>
          <a:p>
            <a:pPr indent="0" marL="0">
              <a:buNone/>
            </a:pPr>
            <a:r>
              <a:rPr lang="en-US" sz="1700" dirty="0">
                <a:solidFill>
                  <a:srgbClr val="4D525B"/>
                </a:solidFill>
                <a:latin typeface="Calibri" pitchFamily="34" charset="0"/>
                <a:ea typeface="Calibri" pitchFamily="34" charset="-122"/>
                <a:cs typeface="Calibri" pitchFamily="34" charset="-120"/>
              </a:rPr>
              <a:t>Most customers buy once, and revenue leans hard on a few.</a:t>
            </a:r>
            <a:endParaRPr lang="en-US" sz="1700" dirty="0"/>
          </a:p>
        </p:txBody>
      </p:sp>
      <p:sp>
        <p:nvSpPr>
          <p:cNvPr id="4" name="Shape 2"/>
          <p:cNvSpPr/>
          <p:nvPr/>
        </p:nvSpPr>
        <p:spPr>
          <a:xfrm>
            <a:off x="640080" y="1874520"/>
            <a:ext cx="2514600" cy="2651760"/>
          </a:xfrm>
          <a:prstGeom prst="roundRect">
            <a:avLst>
              <a:gd name="adj" fmla="val 4364"/>
            </a:avLst>
          </a:prstGeom>
          <a:solidFill>
            <a:srgbClr val="F4F6FB"/>
          </a:solidFill>
          <a:ln w="12700">
            <a:solidFill>
              <a:srgbClr val="E2E4E8"/>
            </a:solidFill>
            <a:prstDash val="solid"/>
          </a:ln>
        </p:spPr>
      </p:sp>
      <p:sp>
        <p:nvSpPr>
          <p:cNvPr id="5" name="Text 3"/>
          <p:cNvSpPr/>
          <p:nvPr/>
        </p:nvSpPr>
        <p:spPr>
          <a:xfrm>
            <a:off x="640080" y="2286000"/>
            <a:ext cx="2514600" cy="86868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62.5%</a:t>
            </a:r>
            <a:endParaRPr lang="en-US" sz="4000" dirty="0"/>
          </a:p>
        </p:txBody>
      </p:sp>
      <p:sp>
        <p:nvSpPr>
          <p:cNvPr id="6" name="Text 4"/>
          <p:cNvSpPr/>
          <p:nvPr/>
        </p:nvSpPr>
        <p:spPr>
          <a:xfrm>
            <a:off x="777240" y="3291840"/>
            <a:ext cx="2240280" cy="914400"/>
          </a:xfrm>
          <a:prstGeom prst="rect">
            <a:avLst/>
          </a:prstGeom>
          <a:noFill/>
          <a:ln/>
        </p:spPr>
        <p:txBody>
          <a:bodyPr wrap="square" rtlCol="0" anchor="ctr"/>
          <a:lstStyle/>
          <a:p>
            <a:pPr algn="ctr" indent="0" marL="0">
              <a:buNone/>
            </a:pPr>
            <a:r>
              <a:rPr lang="en-US" sz="1300" dirty="0">
                <a:solidFill>
                  <a:srgbClr val="4D525B"/>
                </a:solidFill>
                <a:latin typeface="Calibri" pitchFamily="34" charset="0"/>
                <a:ea typeface="Calibri" pitchFamily="34" charset="-122"/>
                <a:cs typeface="Calibri" pitchFamily="34" charset="-120"/>
              </a:rPr>
              <a:t>never place a</a:t>
            </a:r>
            <a:endParaRPr lang="en-US" sz="1300" dirty="0"/>
          </a:p>
          <a:p>
            <a:pPr algn="ctr" indent="0" marL="0">
              <a:buNone/>
            </a:pPr>
            <a:r>
              <a:rPr lang="en-US" sz="1300" dirty="0">
                <a:solidFill>
                  <a:srgbClr val="4D525B"/>
                </a:solidFill>
                <a:latin typeface="Calibri" pitchFamily="34" charset="0"/>
                <a:ea typeface="Calibri" pitchFamily="34" charset="-122"/>
                <a:cs typeface="Calibri" pitchFamily="34" charset="-120"/>
              </a:rPr>
              <a:t>second order</a:t>
            </a:r>
            <a:endParaRPr lang="en-US" sz="1300" dirty="0"/>
          </a:p>
        </p:txBody>
      </p:sp>
      <p:sp>
        <p:nvSpPr>
          <p:cNvPr id="7" name="Shape 5"/>
          <p:cNvSpPr/>
          <p:nvPr/>
        </p:nvSpPr>
        <p:spPr>
          <a:xfrm>
            <a:off x="3429000" y="1874520"/>
            <a:ext cx="2514600" cy="2651760"/>
          </a:xfrm>
          <a:prstGeom prst="roundRect">
            <a:avLst>
              <a:gd name="adj" fmla="val 4364"/>
            </a:avLst>
          </a:prstGeom>
          <a:solidFill>
            <a:srgbClr val="F4F6FB"/>
          </a:solidFill>
          <a:ln w="12700">
            <a:solidFill>
              <a:srgbClr val="E2E4E8"/>
            </a:solidFill>
            <a:prstDash val="solid"/>
          </a:ln>
        </p:spPr>
      </p:sp>
      <p:sp>
        <p:nvSpPr>
          <p:cNvPr id="8" name="Text 6"/>
          <p:cNvSpPr/>
          <p:nvPr/>
        </p:nvSpPr>
        <p:spPr>
          <a:xfrm>
            <a:off x="3429000" y="2286000"/>
            <a:ext cx="2514600" cy="86868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57 days</a:t>
            </a:r>
            <a:endParaRPr lang="en-US" sz="4000" dirty="0"/>
          </a:p>
        </p:txBody>
      </p:sp>
      <p:sp>
        <p:nvSpPr>
          <p:cNvPr id="9" name="Text 7"/>
          <p:cNvSpPr/>
          <p:nvPr/>
        </p:nvSpPr>
        <p:spPr>
          <a:xfrm>
            <a:off x="3566160" y="3291840"/>
            <a:ext cx="2240280" cy="914400"/>
          </a:xfrm>
          <a:prstGeom prst="rect">
            <a:avLst/>
          </a:prstGeom>
          <a:noFill/>
          <a:ln/>
        </p:spPr>
        <p:txBody>
          <a:bodyPr wrap="square" rtlCol="0" anchor="ctr"/>
          <a:lstStyle/>
          <a:p>
            <a:pPr algn="ctr" indent="0" marL="0">
              <a:buNone/>
            </a:pPr>
            <a:r>
              <a:rPr lang="en-US" sz="1300" dirty="0">
                <a:solidFill>
                  <a:srgbClr val="4D525B"/>
                </a:solidFill>
                <a:latin typeface="Calibri" pitchFamily="34" charset="0"/>
                <a:ea typeface="Calibri" pitchFamily="34" charset="-122"/>
                <a:cs typeface="Calibri" pitchFamily="34" charset="-120"/>
              </a:rPr>
              <a:t>median gap to the</a:t>
            </a:r>
            <a:endParaRPr lang="en-US" sz="1300" dirty="0"/>
          </a:p>
          <a:p>
            <a:pPr algn="ctr" indent="0" marL="0">
              <a:buNone/>
            </a:pPr>
            <a:r>
              <a:rPr lang="en-US" sz="1300" dirty="0">
                <a:solidFill>
                  <a:srgbClr val="4D525B"/>
                </a:solidFill>
                <a:latin typeface="Calibri" pitchFamily="34" charset="0"/>
                <a:ea typeface="Calibri" pitchFamily="34" charset="-122"/>
                <a:cs typeface="Calibri" pitchFamily="34" charset="-120"/>
              </a:rPr>
              <a:t>second purchase</a:t>
            </a:r>
            <a:endParaRPr lang="en-US" sz="1300" dirty="0"/>
          </a:p>
        </p:txBody>
      </p:sp>
      <p:sp>
        <p:nvSpPr>
          <p:cNvPr id="10" name="Shape 8"/>
          <p:cNvSpPr/>
          <p:nvPr/>
        </p:nvSpPr>
        <p:spPr>
          <a:xfrm>
            <a:off x="6217920" y="1874520"/>
            <a:ext cx="2514600" cy="2651760"/>
          </a:xfrm>
          <a:prstGeom prst="roundRect">
            <a:avLst>
              <a:gd name="adj" fmla="val 4364"/>
            </a:avLst>
          </a:prstGeom>
          <a:solidFill>
            <a:srgbClr val="F4F6FB"/>
          </a:solidFill>
          <a:ln w="12700">
            <a:solidFill>
              <a:srgbClr val="E2E4E8"/>
            </a:solidFill>
            <a:prstDash val="solid"/>
          </a:ln>
        </p:spPr>
      </p:sp>
      <p:sp>
        <p:nvSpPr>
          <p:cNvPr id="11" name="Text 9"/>
          <p:cNvSpPr/>
          <p:nvPr/>
        </p:nvSpPr>
        <p:spPr>
          <a:xfrm>
            <a:off x="6217920" y="2286000"/>
            <a:ext cx="2514600" cy="86868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68%</a:t>
            </a:r>
            <a:endParaRPr lang="en-US" sz="4000" dirty="0"/>
          </a:p>
        </p:txBody>
      </p:sp>
      <p:sp>
        <p:nvSpPr>
          <p:cNvPr id="12" name="Text 10"/>
          <p:cNvSpPr/>
          <p:nvPr/>
        </p:nvSpPr>
        <p:spPr>
          <a:xfrm>
            <a:off x="6355080" y="3291840"/>
            <a:ext cx="2240280" cy="914400"/>
          </a:xfrm>
          <a:prstGeom prst="rect">
            <a:avLst/>
          </a:prstGeom>
          <a:noFill/>
          <a:ln/>
        </p:spPr>
        <p:txBody>
          <a:bodyPr wrap="square" rtlCol="0" anchor="ctr"/>
          <a:lstStyle/>
          <a:p>
            <a:pPr algn="ctr" indent="0" marL="0">
              <a:buNone/>
            </a:pPr>
            <a:r>
              <a:rPr lang="en-US" sz="1300" dirty="0">
                <a:solidFill>
                  <a:srgbClr val="4D525B"/>
                </a:solidFill>
                <a:latin typeface="Calibri" pitchFamily="34" charset="0"/>
                <a:ea typeface="Calibri" pitchFamily="34" charset="-122"/>
                <a:cs typeface="Calibri" pitchFamily="34" charset="-120"/>
              </a:rPr>
              <a:t>of revenue from the</a:t>
            </a:r>
            <a:endParaRPr lang="en-US" sz="1300" dirty="0"/>
          </a:p>
          <a:p>
            <a:pPr algn="ctr" indent="0" marL="0">
              <a:buNone/>
            </a:pPr>
            <a:r>
              <a:rPr lang="en-US" sz="1300" dirty="0">
                <a:solidFill>
                  <a:srgbClr val="4D525B"/>
                </a:solidFill>
                <a:latin typeface="Calibri" pitchFamily="34" charset="0"/>
                <a:ea typeface="Calibri" pitchFamily="34" charset="-122"/>
                <a:cs typeface="Calibri" pitchFamily="34" charset="-120"/>
              </a:rPr>
              <a:t>top 20% of customers</a:t>
            </a:r>
            <a:endParaRPr lang="en-US" sz="1300" dirty="0"/>
          </a:p>
        </p:txBody>
      </p:sp>
      <p:sp>
        <p:nvSpPr>
          <p:cNvPr id="13" name="Shape 11"/>
          <p:cNvSpPr/>
          <p:nvPr/>
        </p:nvSpPr>
        <p:spPr>
          <a:xfrm>
            <a:off x="9006840" y="1874520"/>
            <a:ext cx="2514600" cy="2651760"/>
          </a:xfrm>
          <a:prstGeom prst="roundRect">
            <a:avLst>
              <a:gd name="adj" fmla="val 4364"/>
            </a:avLst>
          </a:prstGeom>
          <a:solidFill>
            <a:srgbClr val="F4F6FB"/>
          </a:solidFill>
          <a:ln w="12700">
            <a:solidFill>
              <a:srgbClr val="E2E4E8"/>
            </a:solidFill>
            <a:prstDash val="solid"/>
          </a:ln>
        </p:spPr>
      </p:sp>
      <p:sp>
        <p:nvSpPr>
          <p:cNvPr id="14" name="Text 12"/>
          <p:cNvSpPr/>
          <p:nvPr/>
        </p:nvSpPr>
        <p:spPr>
          <a:xfrm>
            <a:off x="9006840" y="2286000"/>
            <a:ext cx="2514600" cy="868680"/>
          </a:xfrm>
          <a:prstGeom prst="rect">
            <a:avLst/>
          </a:prstGeom>
          <a:noFill/>
          <a:ln/>
        </p:spPr>
        <p:txBody>
          <a:bodyPr wrap="square"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0.576</a:t>
            </a:r>
            <a:endParaRPr lang="en-US" sz="4000" dirty="0"/>
          </a:p>
        </p:txBody>
      </p:sp>
      <p:sp>
        <p:nvSpPr>
          <p:cNvPr id="15" name="Text 13"/>
          <p:cNvSpPr/>
          <p:nvPr/>
        </p:nvSpPr>
        <p:spPr>
          <a:xfrm>
            <a:off x="9144000" y="3291840"/>
            <a:ext cx="2240280" cy="914400"/>
          </a:xfrm>
          <a:prstGeom prst="rect">
            <a:avLst/>
          </a:prstGeom>
          <a:noFill/>
          <a:ln/>
        </p:spPr>
        <p:txBody>
          <a:bodyPr wrap="square" rtlCol="0" anchor="ctr"/>
          <a:lstStyle/>
          <a:p>
            <a:pPr algn="ctr" indent="0" marL="0">
              <a:buNone/>
            </a:pPr>
            <a:r>
              <a:rPr lang="en-US" sz="1300" dirty="0">
                <a:solidFill>
                  <a:srgbClr val="4D525B"/>
                </a:solidFill>
                <a:latin typeface="Calibri" pitchFamily="34" charset="0"/>
                <a:ea typeface="Calibri" pitchFamily="34" charset="-122"/>
                <a:cs typeface="Calibri" pitchFamily="34" charset="-120"/>
              </a:rPr>
              <a:t>hold-out AUC —</a:t>
            </a:r>
            <a:endParaRPr lang="en-US" sz="1300" dirty="0"/>
          </a:p>
          <a:p>
            <a:pPr algn="ctr" indent="0" marL="0">
              <a:buNone/>
            </a:pPr>
            <a:r>
              <a:rPr lang="en-US" sz="1300" dirty="0">
                <a:solidFill>
                  <a:srgbClr val="4D525B"/>
                </a:solidFill>
                <a:latin typeface="Calibri" pitchFamily="34" charset="0"/>
                <a:ea typeface="Calibri" pitchFamily="34" charset="-122"/>
                <a:cs typeface="Calibri" pitchFamily="34" charset="-120"/>
              </a:rPr>
              <a:t>barely above chance</a:t>
            </a:r>
            <a:endParaRPr lang="en-US" sz="1300" dirty="0"/>
          </a:p>
        </p:txBody>
      </p:sp>
      <p:sp>
        <p:nvSpPr>
          <p:cNvPr id="16" name="Text 14"/>
          <p:cNvSpPr/>
          <p:nvPr/>
        </p:nvSpPr>
        <p:spPr>
          <a:xfrm>
            <a:off x="640080" y="4983480"/>
            <a:ext cx="10881360" cy="640080"/>
          </a:xfrm>
          <a:prstGeom prst="rect">
            <a:avLst/>
          </a:prstGeom>
          <a:noFill/>
          <a:ln/>
        </p:spPr>
        <p:txBody>
          <a:bodyPr wrap="square" rtlCol="0" anchor="ctr"/>
          <a:lstStyle/>
          <a:p>
            <a:pPr indent="0" marL="0">
              <a:buNone/>
            </a:pPr>
            <a:r>
              <a:rPr lang="en-US" sz="1500" i="1" dirty="0">
                <a:solidFill>
                  <a:srgbClr val="14161A"/>
                </a:solidFill>
                <a:latin typeface="Calibri" pitchFamily="34" charset="0"/>
                <a:ea typeface="Calibri" pitchFamily="34" charset="-122"/>
                <a:cs typeface="Calibri" pitchFamily="34" charset="-120"/>
              </a:rPr>
              <a:t>Read the concentration the other way round: acquisition spend is going to a majority of customers who return nothing after the first basket.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548640"/>
          </a:xfrm>
          <a:prstGeom prst="rect">
            <a:avLst/>
          </a:prstGeom>
          <a:noFill/>
          <a:ln/>
        </p:spPr>
        <p:txBody>
          <a:bodyPr wrap="square" rtlCol="0" anchor="ctr"/>
          <a:lstStyle/>
          <a:p>
            <a:pPr indent="0" marL="0">
              <a:buNone/>
            </a:pPr>
            <a:r>
              <a:rPr lang="en-US" sz="4000" b="1" dirty="0">
                <a:solidFill>
                  <a:srgbClr val="14161A"/>
                </a:solidFill>
                <a:latin typeface="Cambria" pitchFamily="34" charset="0"/>
                <a:ea typeface="Cambria" pitchFamily="34" charset="-122"/>
                <a:cs typeface="Cambria" pitchFamily="34" charset="-120"/>
              </a:rPr>
              <a:t>What the data said</a:t>
            </a:r>
            <a:endParaRPr lang="en-US" sz="4000" dirty="0"/>
          </a:p>
        </p:txBody>
      </p:sp>
      <p:sp>
        <p:nvSpPr>
          <p:cNvPr id="3" name="Text 1"/>
          <p:cNvSpPr/>
          <p:nvPr/>
        </p:nvSpPr>
        <p:spPr>
          <a:xfrm>
            <a:off x="640080" y="1143000"/>
            <a:ext cx="10058400" cy="411480"/>
          </a:xfrm>
          <a:prstGeom prst="rect">
            <a:avLst/>
          </a:prstGeom>
          <a:noFill/>
          <a:ln/>
        </p:spPr>
        <p:txBody>
          <a:bodyPr wrap="square" rtlCol="0" anchor="ctr"/>
          <a:lstStyle/>
          <a:p>
            <a:pPr indent="0" marL="0">
              <a:buNone/>
            </a:pPr>
            <a:r>
              <a:rPr lang="en-US" sz="1700" dirty="0">
                <a:solidFill>
                  <a:srgbClr val="4D525B"/>
                </a:solidFill>
                <a:latin typeface="Calibri" pitchFamily="34" charset="0"/>
                <a:ea typeface="Calibri" pitchFamily="34" charset="-122"/>
                <a:cs typeface="Calibri" pitchFamily="34" charset="-120"/>
              </a:rPr>
              <a:t>When customers return, they return fast — that is the whole opening.</a:t>
            </a:r>
            <a:endParaRPr lang="en-US" sz="1700" dirty="0"/>
          </a:p>
        </p:txBody>
      </p:sp>
      <p:graphicFrame>
        <p:nvGraphicFramePr>
          <p:cNvPr id="4" name="Chart 0" descr=""/>
          <p:cNvGraphicFramePr/>
          <p:nvPr/>
        </p:nvGraphicFramePr>
        <p:xfrm>
          <a:off x="640080" y="1783080"/>
          <a:ext cx="649224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783080"/>
            <a:ext cx="4069080" cy="1783080"/>
          </a:xfrm>
          <a:prstGeom prst="roundRect">
            <a:avLst>
              <a:gd name="adj" fmla="val 6154"/>
            </a:avLst>
          </a:prstGeom>
          <a:solidFill>
            <a:srgbClr val="F4F6FB"/>
          </a:solidFill>
          <a:ln w="12700">
            <a:solidFill>
              <a:srgbClr val="E2E4E8"/>
            </a:solidFill>
            <a:prstDash val="solid"/>
          </a:ln>
        </p:spPr>
      </p:sp>
      <p:sp>
        <p:nvSpPr>
          <p:cNvPr id="6" name="Text 3"/>
          <p:cNvSpPr/>
          <p:nvPr/>
        </p:nvSpPr>
        <p:spPr>
          <a:xfrm>
            <a:off x="7635240" y="1965960"/>
            <a:ext cx="3657600" cy="640080"/>
          </a:xfrm>
          <a:prstGeom prst="rect">
            <a:avLst/>
          </a:prstGeom>
          <a:noFill/>
          <a:ln/>
        </p:spPr>
        <p:txBody>
          <a:bodyPr wrap="square"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~60%</a:t>
            </a:r>
            <a:endParaRPr lang="en-US" sz="3400" dirty="0"/>
          </a:p>
        </p:txBody>
      </p:sp>
      <p:sp>
        <p:nvSpPr>
          <p:cNvPr id="7" name="Text 4"/>
          <p:cNvSpPr/>
          <p:nvPr/>
        </p:nvSpPr>
        <p:spPr>
          <a:xfrm>
            <a:off x="7635240" y="2606040"/>
            <a:ext cx="3703320" cy="868680"/>
          </a:xfrm>
          <a:prstGeom prst="rect">
            <a:avLst/>
          </a:prstGeom>
          <a:noFill/>
          <a:ln/>
        </p:spPr>
        <p:txBody>
          <a:bodyPr wrap="square" rtlCol="0" anchor="ctr"/>
          <a:lstStyle/>
          <a:p>
            <a:pPr indent="0" marL="0">
              <a:buNone/>
            </a:pPr>
            <a:r>
              <a:rPr lang="en-US" sz="1300" dirty="0">
                <a:solidFill>
                  <a:srgbClr val="4D525B"/>
                </a:solidFill>
                <a:latin typeface="Calibri" pitchFamily="34" charset="0"/>
                <a:ea typeface="Calibri" pitchFamily="34" charset="-122"/>
                <a:cs typeface="Calibri" pitchFamily="34" charset="-120"/>
              </a:rPr>
              <a:t>of second purchases land inside 90 days. The window to act in is short and known.</a:t>
            </a:r>
            <a:endParaRPr lang="en-US" sz="1300" dirty="0"/>
          </a:p>
        </p:txBody>
      </p:sp>
      <p:sp>
        <p:nvSpPr>
          <p:cNvPr id="8" name="Shape 5"/>
          <p:cNvSpPr/>
          <p:nvPr/>
        </p:nvSpPr>
        <p:spPr>
          <a:xfrm>
            <a:off x="7452360" y="3749040"/>
            <a:ext cx="4069080" cy="1783080"/>
          </a:xfrm>
          <a:prstGeom prst="roundRect">
            <a:avLst>
              <a:gd name="adj" fmla="val 6154"/>
            </a:avLst>
          </a:prstGeom>
          <a:solidFill>
            <a:srgbClr val="FDF6E3"/>
          </a:solidFill>
          <a:ln w="12700">
            <a:solidFill>
              <a:srgbClr val="E8D9A8"/>
            </a:solidFill>
            <a:prstDash val="solid"/>
          </a:ln>
        </p:spPr>
      </p:sp>
      <p:sp>
        <p:nvSpPr>
          <p:cNvPr id="9" name="Text 6"/>
          <p:cNvSpPr/>
          <p:nvPr/>
        </p:nvSpPr>
        <p:spPr>
          <a:xfrm>
            <a:off x="7635240" y="3913632"/>
            <a:ext cx="3703320" cy="274320"/>
          </a:xfrm>
          <a:prstGeom prst="rect">
            <a:avLst/>
          </a:prstGeom>
          <a:noFill/>
          <a:ln/>
        </p:spPr>
        <p:txBody>
          <a:bodyPr wrap="square" rtlCol="0" anchor="ctr"/>
          <a:lstStyle/>
          <a:p>
            <a:pPr indent="0" marL="0">
              <a:buNone/>
            </a:pPr>
            <a:r>
              <a:rPr lang="en-US" sz="1100" b="1" spc="100" kern="0" dirty="0">
                <a:solidFill>
                  <a:srgbClr val="B8860B"/>
                </a:solidFill>
                <a:latin typeface="Calibri" pitchFamily="34" charset="0"/>
                <a:ea typeface="Calibri" pitchFamily="34" charset="-122"/>
                <a:cs typeface="Calibri" pitchFamily="34" charset="-120"/>
              </a:rPr>
              <a:t>The lever we rejected</a:t>
            </a:r>
            <a:endParaRPr lang="en-US" sz="1100" dirty="0"/>
          </a:p>
        </p:txBody>
      </p:sp>
      <p:sp>
        <p:nvSpPr>
          <p:cNvPr id="10" name="Text 7"/>
          <p:cNvSpPr/>
          <p:nvPr/>
        </p:nvSpPr>
        <p:spPr>
          <a:xfrm>
            <a:off x="7635240" y="4206240"/>
            <a:ext cx="3703320" cy="1188720"/>
          </a:xfrm>
          <a:prstGeom prst="rect">
            <a:avLst/>
          </a:prstGeom>
          <a:noFill/>
          <a:ln/>
        </p:spPr>
        <p:txBody>
          <a:bodyPr wrap="square" rtlCol="0" anchor="ctr"/>
          <a:lstStyle/>
          <a:p>
            <a:pPr indent="0" marL="0">
              <a:buNone/>
            </a:pPr>
            <a:r>
              <a:rPr lang="en-US" sz="1250" dirty="0">
                <a:solidFill>
                  <a:srgbClr val="14161A"/>
                </a:solidFill>
                <a:latin typeface="Calibri" pitchFamily="34" charset="0"/>
                <a:ea typeface="Calibri" pitchFamily="34" charset="-122"/>
                <a:cs typeface="Calibri" pitchFamily="34" charset="-120"/>
              </a:rPr>
              <a:t>"More titles per order" showed a 15pp gap — the biggest in the data. Its coefficient collapses +0.22 → +0.04 once basket value is controlled.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548640"/>
          </a:xfrm>
          <a:prstGeom prst="rect">
            <a:avLst/>
          </a:prstGeom>
          <a:noFill/>
          <a:ln/>
        </p:spPr>
        <p:txBody>
          <a:bodyPr wrap="square" rtlCol="0" anchor="ctr"/>
          <a:lstStyle/>
          <a:p>
            <a:pPr indent="0" marL="0">
              <a:buNone/>
            </a:pPr>
            <a:r>
              <a:rPr lang="en-US" sz="4000" b="1" dirty="0">
                <a:solidFill>
                  <a:srgbClr val="14161A"/>
                </a:solidFill>
                <a:latin typeface="Cambria" pitchFamily="34" charset="0"/>
                <a:ea typeface="Cambria" pitchFamily="34" charset="-122"/>
                <a:cs typeface="Cambria" pitchFamily="34" charset="-120"/>
              </a:rPr>
              <a:t>Recommendation</a:t>
            </a:r>
            <a:endParaRPr lang="en-US" sz="4000" dirty="0"/>
          </a:p>
        </p:txBody>
      </p:sp>
      <p:sp>
        <p:nvSpPr>
          <p:cNvPr id="3" name="Text 1"/>
          <p:cNvSpPr/>
          <p:nvPr/>
        </p:nvSpPr>
        <p:spPr>
          <a:xfrm>
            <a:off x="640080" y="1143000"/>
            <a:ext cx="10058400" cy="411480"/>
          </a:xfrm>
          <a:prstGeom prst="rect">
            <a:avLst/>
          </a:prstGeom>
          <a:noFill/>
          <a:ln/>
        </p:spPr>
        <p:txBody>
          <a:bodyPr wrap="square"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Build the treatment, not the model.</a:t>
            </a:r>
            <a:endParaRPr lang="en-US" sz="1900" dirty="0"/>
          </a:p>
        </p:txBody>
      </p:sp>
      <p:sp>
        <p:nvSpPr>
          <p:cNvPr id="4" name="Text 2"/>
          <p:cNvSpPr/>
          <p:nvPr/>
        </p:nvSpPr>
        <p:spPr>
          <a:xfrm>
            <a:off x="640080" y="1645920"/>
            <a:ext cx="10881360" cy="868680"/>
          </a:xfrm>
          <a:prstGeom prst="rect">
            <a:avLst/>
          </a:prstGeom>
          <a:noFill/>
          <a:ln/>
        </p:spPr>
        <p:txBody>
          <a:bodyPr wrap="square" rtlCol="0" anchor="ctr"/>
          <a:lstStyle/>
          <a:p>
            <a:pPr indent="0" marL="0">
              <a:buNone/>
            </a:pPr>
            <a:r>
              <a:rPr lang="en-US" sz="1500" dirty="0">
                <a:solidFill>
                  <a:srgbClr val="4D525B"/>
                </a:solidFill>
                <a:latin typeface="Calibri" pitchFamily="34" charset="0"/>
                <a:ea typeface="Calibri" pitchFamily="34" charset="-122"/>
                <a:cs typeface="Calibri" pitchFamily="34" charset="-120"/>
              </a:rPr>
              <a:t>The model cannot say who will return (AUC 0.576 against a 0.375 base rate), so targeting has nothing to target on. The window is short and known, so a timed treatment does. Ship a second-purchase program to every first-time buyer at day 30 / 55 / 80, weighted to higher-value titles.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743200"/>
          <a:ext cx="10881360" cy="914400"/>
        </p:xfrm>
        <a:graphic>
          <a:graphicData uri="http://schemas.openxmlformats.org/drawingml/2006/table">
            <a:tbl>
              <a:tblPr/>
              <a:tblGrid>
                <a:gridCol w="4114800"/>
                <a:gridCol w="1737360"/>
                <a:gridCol w="1463040"/>
                <a:gridCol w="1097280"/>
                <a:gridCol w="2468880"/>
              </a:tblGrid>
              <a:tr h="457200">
                <a:tc>
                  <a:txBody>
                    <a:bodyPr/>
                    <a:lstStyle/>
                    <a:p>
                      <a:pPr indent="0" marL="0">
                        <a:buNone/>
                      </a:pPr>
                      <a:r>
                        <a:rPr lang="en-US" sz="1300" b="1" dirty="0">
                          <a:solidFill>
                            <a:srgbClr val="14161A"/>
                          </a:solidFill>
                          <a:latin typeface="Calibri" pitchFamily="34" charset="0"/>
                          <a:ea typeface="Calibri" pitchFamily="34" charset="-122"/>
                          <a:cs typeface="Calibri" pitchFamily="34" charset="-120"/>
                        </a:rPr>
                        <a:t>Lever</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4161A"/>
                          </a:solidFill>
                          <a:latin typeface="Calibri" pitchFamily="34" charset="0"/>
                          <a:ea typeface="Calibri" pitchFamily="34" charset="-122"/>
                          <a:cs typeface="Calibri" pitchFamily="34" charset="-120"/>
                        </a:rPr>
                        <a:t>Population</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4161A"/>
                          </a:solidFill>
                          <a:latin typeface="Calibri" pitchFamily="34" charset="0"/>
                          <a:ea typeface="Calibri" pitchFamily="34" charset="-122"/>
                          <a:cs typeface="Calibri" pitchFamily="34" charset="-120"/>
                        </a:rPr>
                        <a:t>Impact</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4161A"/>
                          </a:solidFill>
                          <a:latin typeface="Calibri" pitchFamily="34" charset="0"/>
                          <a:ea typeface="Calibri" pitchFamily="34" charset="-122"/>
                          <a:cs typeface="Calibri" pitchFamily="34" charset="-120"/>
                        </a:rPr>
                        <a:t>Effort</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b="1" dirty="0">
                          <a:solidFill>
                            <a:srgbClr val="14161A"/>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Timed second-purchase nudge</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14,743</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$39.7k</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Recommended</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Lift bottom-quartile first baskets</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6,364</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$18.4k</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Recommended</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More titles in the first order</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11,920</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$40.2k</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b="1" dirty="0">
                          <a:solidFill>
                            <a:srgbClr val="B8860B"/>
                          </a:solidFill>
                          <a:latin typeface="Calibri" pitchFamily="34" charset="0"/>
                          <a:ea typeface="Calibri" pitchFamily="34" charset="-122"/>
                          <a:cs typeface="Calibri" pitchFamily="34" charset="-120"/>
                        </a:rPr>
                        <a:t>Rejected — confounded</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Fix the weakest acquisition month</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8,476</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161A"/>
                          </a:solidFill>
                          <a:latin typeface="Calibri" pitchFamily="34" charset="0"/>
                          <a:ea typeface="Calibri" pitchFamily="34" charset="-122"/>
                          <a:cs typeface="Calibri" pitchFamily="34" charset="-120"/>
                        </a:rPr>
                        <a:t>$1.2k</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161A"/>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4161A"/>
                          </a:solidFill>
                          <a:latin typeface="Calibri" pitchFamily="34" charset="0"/>
                          <a:ea typeface="Calibri" pitchFamily="34" charset="-122"/>
                          <a:cs typeface="Calibri" pitchFamily="34" charset="-120"/>
                        </a:rPr>
                        <a:t>Too small to chase</a:t>
                      </a:r>
                      <a:endParaRPr lang="en-US" sz="1300" dirty="0">
                        <a:latin typeface="Calibri" charset="0"/>
                        <a:ea typeface="Calibri" charset="0"/>
                        <a:cs typeface="Calibri" charset="0"/>
                      </a:endParaRPr>
                    </a:p>
                  </a:txBody>
                  <a:tcPr marL="91440" marR="91440" marT="45720" marB="45720" anchor="ctr">
                    <a:lnL w="12700" cap="flat" cmpd="sng" algn="ctr">
                      <a:solidFill>
                        <a:srgbClr val="E2E4E8"/>
                      </a:solidFill>
                      <a:prstDash val="solid"/>
                      <a:round/>
                      <a:headEnd type="none" w="med" len="med"/>
                      <a:tailEnd type="none" w="med" len="med"/>
                    </a:lnL>
                    <a:lnR w="12700" cap="flat" cmpd="sng" algn="ctr">
                      <a:solidFill>
                        <a:srgbClr val="E2E4E8"/>
                      </a:solidFill>
                      <a:prstDash val="solid"/>
                      <a:round/>
                      <a:headEnd type="none" w="med" len="med"/>
                      <a:tailEnd type="none" w="med" len="med"/>
                    </a:lnR>
                    <a:lnT w="12700" cap="flat" cmpd="sng" algn="ctr">
                      <a:solidFill>
                        <a:srgbClr val="E2E4E8"/>
                      </a:solidFill>
                      <a:prstDash val="solid"/>
                      <a:round/>
                      <a:headEnd type="none" w="med" len="med"/>
                      <a:tailEnd type="none" w="med" len="med"/>
                    </a:lnT>
                    <a:lnB w="12700" cap="flat" cmpd="sng" algn="ctr">
                      <a:solidFill>
                        <a:srgbClr val="E2E4E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440680"/>
            <a:ext cx="10881360" cy="640080"/>
          </a:xfrm>
          <a:prstGeom prst="rect">
            <a:avLst/>
          </a:prstGeom>
          <a:noFill/>
          <a:ln/>
        </p:spPr>
        <p:txBody>
          <a:bodyPr wrap="square" rtlCol="0" anchor="ctr"/>
          <a:lstStyle/>
          <a:p>
            <a:pPr indent="0" marL="0">
              <a:buNone/>
            </a:pPr>
            <a:r>
              <a:rPr lang="en-US" sz="1400" i="1" dirty="0">
                <a:solidFill>
                  <a:srgbClr val="14161A"/>
                </a:solidFill>
                <a:latin typeface="Calibri" pitchFamily="34" charset="0"/>
                <a:ea typeface="Calibri" pitchFamily="34" charset="-122"/>
                <a:cs typeface="Calibri" pitchFamily="34" charset="-120"/>
              </a:rPr>
              <a:t>Highest impact and lowest effort are the same row. The rejected row carries the second-largest number — ranking by size alone would have picked it, which is why the control step exists.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40080"/>
            <a:ext cx="9144000" cy="64008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we'd know it worked</a:t>
            </a:r>
            <a:endParaRPr lang="en-US" sz="4000" dirty="0"/>
          </a:p>
        </p:txBody>
      </p:sp>
      <p:sp>
        <p:nvSpPr>
          <p:cNvPr id="3" name="Shape 1"/>
          <p:cNvSpPr/>
          <p:nvPr/>
        </p:nvSpPr>
        <p:spPr>
          <a:xfrm>
            <a:off x="731520" y="1783080"/>
            <a:ext cx="3383280" cy="2286000"/>
          </a:xfrm>
          <a:prstGeom prst="roundRect">
            <a:avLst>
              <a:gd name="adj" fmla="val 4800"/>
            </a:avLst>
          </a:prstGeom>
          <a:solidFill>
            <a:srgbClr val="2A3A72"/>
          </a:solidFill>
          <a:ln w="12700">
            <a:solidFill>
              <a:srgbClr val="3A4A85"/>
            </a:solidFill>
            <a:prstDash val="solid"/>
          </a:ln>
        </p:spPr>
      </p:sp>
      <p:sp>
        <p:nvSpPr>
          <p:cNvPr id="4" name="Text 2"/>
          <p:cNvSpPr/>
          <p:nvPr/>
        </p:nvSpPr>
        <p:spPr>
          <a:xfrm>
            <a:off x="960120" y="1965960"/>
            <a:ext cx="2926080" cy="320040"/>
          </a:xfrm>
          <a:prstGeom prst="rect">
            <a:avLst/>
          </a:prstGeom>
          <a:noFill/>
          <a:ln/>
        </p:spPr>
        <p:txBody>
          <a:bodyPr wrap="square" lIns="0" tIns="0" rIns="0" bIns="0" rtlCol="0" anchor="t"/>
          <a:lstStyle/>
          <a:p>
            <a:pPr indent="0" marL="0">
              <a:buNone/>
            </a:pPr>
            <a:r>
              <a:rPr lang="en-US" sz="1500" b="1" dirty="0">
                <a:solidFill>
                  <a:srgbClr val="CADCFC"/>
                </a:solidFill>
                <a:latin typeface="Calibri" pitchFamily="34" charset="0"/>
                <a:ea typeface="Calibri" pitchFamily="34" charset="-122"/>
                <a:cs typeface="Calibri" pitchFamily="34" charset="-120"/>
              </a:rPr>
              <a:t>Primary metric</a:t>
            </a:r>
            <a:endParaRPr lang="en-US" sz="1500" dirty="0"/>
          </a:p>
        </p:txBody>
      </p:sp>
      <p:sp>
        <p:nvSpPr>
          <p:cNvPr id="5" name="Text 3"/>
          <p:cNvSpPr/>
          <p:nvPr/>
        </p:nvSpPr>
        <p:spPr>
          <a:xfrm>
            <a:off x="960120" y="2377440"/>
            <a:ext cx="2926080" cy="1554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180-day repeat rate, treatment vs. a permanent holdout.</a:t>
            </a:r>
            <a:endParaRPr lang="en-US" sz="1300" dirty="0"/>
          </a:p>
        </p:txBody>
      </p:sp>
      <p:sp>
        <p:nvSpPr>
          <p:cNvPr id="6" name="Shape 4"/>
          <p:cNvSpPr/>
          <p:nvPr/>
        </p:nvSpPr>
        <p:spPr>
          <a:xfrm>
            <a:off x="4434840" y="1783080"/>
            <a:ext cx="3383280" cy="2286000"/>
          </a:xfrm>
          <a:prstGeom prst="roundRect">
            <a:avLst>
              <a:gd name="adj" fmla="val 4800"/>
            </a:avLst>
          </a:prstGeom>
          <a:solidFill>
            <a:srgbClr val="2A3A72"/>
          </a:solidFill>
          <a:ln w="12700">
            <a:solidFill>
              <a:srgbClr val="3A4A85"/>
            </a:solidFill>
            <a:prstDash val="solid"/>
          </a:ln>
        </p:spPr>
      </p:sp>
      <p:sp>
        <p:nvSpPr>
          <p:cNvPr id="7" name="Text 5"/>
          <p:cNvSpPr/>
          <p:nvPr/>
        </p:nvSpPr>
        <p:spPr>
          <a:xfrm>
            <a:off x="4663440" y="1965960"/>
            <a:ext cx="2926080" cy="320040"/>
          </a:xfrm>
          <a:prstGeom prst="rect">
            <a:avLst/>
          </a:prstGeom>
          <a:noFill/>
          <a:ln/>
        </p:spPr>
        <p:txBody>
          <a:bodyPr wrap="square" lIns="0" tIns="0" rIns="0" bIns="0" rtlCol="0" anchor="t"/>
          <a:lstStyle/>
          <a:p>
            <a:pPr indent="0" marL="0">
              <a:buNone/>
            </a:pPr>
            <a:r>
              <a:rPr lang="en-US" sz="1500" b="1" dirty="0">
                <a:solidFill>
                  <a:srgbClr val="CADCFC"/>
                </a:solidFill>
                <a:latin typeface="Calibri" pitchFamily="34" charset="0"/>
                <a:ea typeface="Calibri" pitchFamily="34" charset="-122"/>
                <a:cs typeface="Calibri" pitchFamily="34" charset="-120"/>
              </a:rPr>
              <a:t>Ship / kill</a:t>
            </a:r>
            <a:endParaRPr lang="en-US" sz="1500" dirty="0"/>
          </a:p>
        </p:txBody>
      </p:sp>
      <p:sp>
        <p:nvSpPr>
          <p:cNvPr id="8" name="Text 6"/>
          <p:cNvSpPr/>
          <p:nvPr/>
        </p:nvSpPr>
        <p:spPr>
          <a:xfrm>
            <a:off x="4663440" y="2377440"/>
            <a:ext cx="2926080" cy="1554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Ship at ≥2pp lift (p&lt;0.05) after one full cohort. Kill below 1pp.</a:t>
            </a:r>
            <a:endParaRPr lang="en-US" sz="1300" dirty="0"/>
          </a:p>
        </p:txBody>
      </p:sp>
      <p:sp>
        <p:nvSpPr>
          <p:cNvPr id="9" name="Shape 7"/>
          <p:cNvSpPr/>
          <p:nvPr/>
        </p:nvSpPr>
        <p:spPr>
          <a:xfrm>
            <a:off x="8138160" y="1783080"/>
            <a:ext cx="3383280" cy="2286000"/>
          </a:xfrm>
          <a:prstGeom prst="roundRect">
            <a:avLst>
              <a:gd name="adj" fmla="val 4800"/>
            </a:avLst>
          </a:prstGeom>
          <a:solidFill>
            <a:srgbClr val="2A3A72"/>
          </a:solidFill>
          <a:ln w="12700">
            <a:solidFill>
              <a:srgbClr val="3A4A85"/>
            </a:solidFill>
            <a:prstDash val="solid"/>
          </a:ln>
        </p:spPr>
      </p:sp>
      <p:sp>
        <p:nvSpPr>
          <p:cNvPr id="10" name="Text 8"/>
          <p:cNvSpPr/>
          <p:nvPr/>
        </p:nvSpPr>
        <p:spPr>
          <a:xfrm>
            <a:off x="8366760" y="1965960"/>
            <a:ext cx="2926080" cy="320040"/>
          </a:xfrm>
          <a:prstGeom prst="rect">
            <a:avLst/>
          </a:prstGeom>
          <a:noFill/>
          <a:ln/>
        </p:spPr>
        <p:txBody>
          <a:bodyPr wrap="square" lIns="0" tIns="0" rIns="0" bIns="0" rtlCol="0" anchor="t"/>
          <a:lstStyle/>
          <a:p>
            <a:pPr indent="0" marL="0">
              <a:buNone/>
            </a:pPr>
            <a:r>
              <a:rPr lang="en-US" sz="1500" b="1" dirty="0">
                <a:solidFill>
                  <a:srgbClr val="CADCFC"/>
                </a:solidFill>
                <a:latin typeface="Calibri" pitchFamily="34" charset="0"/>
                <a:ea typeface="Calibri" pitchFamily="34" charset="-122"/>
                <a:cs typeface="Calibri" pitchFamily="34" charset="-120"/>
              </a:rPr>
              <a:t>Counter-metric</a:t>
            </a:r>
            <a:endParaRPr lang="en-US" sz="1500" dirty="0"/>
          </a:p>
        </p:txBody>
      </p:sp>
      <p:sp>
        <p:nvSpPr>
          <p:cNvPr id="11" name="Text 9"/>
          <p:cNvSpPr/>
          <p:nvPr/>
        </p:nvSpPr>
        <p:spPr>
          <a:xfrm>
            <a:off x="8366760" y="2377440"/>
            <a:ext cx="2926080" cy="1554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Value of the second order. A lift bought by discounting is not a win.</a:t>
            </a:r>
            <a:endParaRPr lang="en-US" sz="1300" dirty="0"/>
          </a:p>
        </p:txBody>
      </p:sp>
      <p:sp>
        <p:nvSpPr>
          <p:cNvPr id="12" name="Text 10"/>
          <p:cNvSpPr/>
          <p:nvPr/>
        </p:nvSpPr>
        <p:spPr>
          <a:xfrm>
            <a:off x="731520" y="4617720"/>
            <a:ext cx="9144000" cy="365760"/>
          </a:xfrm>
          <a:prstGeom prst="rect">
            <a:avLst/>
          </a:prstGeom>
          <a:noFill/>
          <a:ln/>
        </p:spPr>
        <p:txBody>
          <a:bodyPr wrap="square"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What would change my mind</a:t>
            </a:r>
            <a:endParaRPr lang="en-US" sz="1500" dirty="0"/>
          </a:p>
        </p:txBody>
      </p:sp>
      <p:sp>
        <p:nvSpPr>
          <p:cNvPr id="13" name="Text 11"/>
          <p:cNvSpPr/>
          <p:nvPr/>
        </p:nvSpPr>
        <p:spPr>
          <a:xfrm>
            <a:off x="731520" y="4983480"/>
            <a:ext cx="10698480" cy="822960"/>
          </a:xfrm>
          <a:prstGeom prst="rect">
            <a:avLst/>
          </a:prstGeom>
          <a:noFill/>
          <a:ln/>
        </p:spPr>
        <p:txBody>
          <a:bodyPr wrap="square" rtlCol="0" anchor="ctr"/>
          <a:lstStyle/>
          <a:p>
            <a:pPr indent="0" marL="0">
              <a:buNone/>
            </a:pPr>
            <a:r>
              <a:rPr lang="en-US" sz="1400" dirty="0">
                <a:solidFill>
                  <a:srgbClr val="C8D4F0"/>
                </a:solidFill>
                <a:latin typeface="Calibri" pitchFamily="34" charset="0"/>
                <a:ea typeface="Calibri" pitchFamily="34" charset="-122"/>
                <a:cs typeface="Calibri" pitchFamily="34" charset="-120"/>
              </a:rPr>
              <a:t>If the holdout shows under 1pp after a full cohort, the window hypothesis is wrong and the constraint is more likely product selection than timing. The next investigation would be first-basket composition, not lifecycle timing.</a:t>
            </a:r>
            <a:endParaRPr lang="en-US" sz="1400" dirty="0"/>
          </a:p>
        </p:txBody>
      </p:sp>
      <p:sp>
        <p:nvSpPr>
          <p:cNvPr id="14" name="Text 12"/>
          <p:cNvSpPr/>
          <p:nvPr/>
        </p:nvSpPr>
        <p:spPr>
          <a:xfrm>
            <a:off x="731520" y="6035040"/>
            <a:ext cx="10698480" cy="365760"/>
          </a:xfrm>
          <a:prstGeom prst="rect">
            <a:avLst/>
          </a:prstGeom>
          <a:noFill/>
          <a:ln/>
        </p:spPr>
        <p:txBody>
          <a:bodyPr wrap="square" rtlCol="0" anchor="ctr"/>
          <a:lstStyle/>
          <a:p>
            <a:pPr indent="0" marL="0">
              <a:buNone/>
            </a:pPr>
            <a:r>
              <a:rPr lang="en-US" sz="1250" i="1" dirty="0">
                <a:solidFill>
                  <a:srgbClr val="8FA4D8"/>
                </a:solidFill>
                <a:latin typeface="Calibri" pitchFamily="34" charset="0"/>
                <a:ea typeface="Calibri" pitchFamily="34" charset="-122"/>
                <a:cs typeface="Calibri" pitchFamily="34" charset="-120"/>
              </a:rPr>
              <a:t>The 3pp lift is assumed, not measured. The holdout exists to prove or kill it.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CDNOW Retention — Executive Summary</dc:title>
  <dc:subject>PptxGenJS Presentation</dc:subject>
  <dc:creator>Payton Nguyen</dc:creator>
  <cp:lastModifiedBy>Payton Nguyen</cp:lastModifiedBy>
  <cp:revision>1</cp:revision>
  <dcterms:created xsi:type="dcterms:W3CDTF">2026-07-31T02:21:27Z</dcterms:created>
  <dcterms:modified xsi:type="dcterms:W3CDTF">2026-07-31T02:21:27Z</dcterms:modified>
</cp:coreProperties>
</file>